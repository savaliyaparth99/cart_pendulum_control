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0" r:id="rId2"/>
    <p:sldId id="256" r:id="rId3"/>
    <p:sldId id="257" r:id="rId4"/>
    <p:sldId id="262" r:id="rId5"/>
    <p:sldId id="263" r:id="rId6"/>
    <p:sldId id="264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7F9"/>
    <a:srgbClr val="F3F7FB"/>
    <a:srgbClr val="E3EBF5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480" autoAdjust="0"/>
    <p:restoredTop sz="94608" autoAdjust="0"/>
  </p:normalViewPr>
  <p:slideViewPr>
    <p:cSldViewPr>
      <p:cViewPr>
        <p:scale>
          <a:sx n="75" d="100"/>
          <a:sy n="75" d="100"/>
        </p:scale>
        <p:origin x="-1766" y="-23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E2836-A67C-4E8F-8304-9A1B9ACCD8FE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B1A49-04D5-4377-A37A-D9B14669D9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B1A49-04D5-4377-A37A-D9B14669D9A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9AB77-17CC-4680-A5ED-B51AF7420FCC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3769-DB9F-4F69-A084-1571425F45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9AB77-17CC-4680-A5ED-B51AF7420FCC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3769-DB9F-4F69-A084-1571425F45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9AB77-17CC-4680-A5ED-B51AF7420FCC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3769-DB9F-4F69-A084-1571425F45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9AB77-17CC-4680-A5ED-B51AF7420FCC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3769-DB9F-4F69-A084-1571425F45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9AB77-17CC-4680-A5ED-B51AF7420FCC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3769-DB9F-4F69-A084-1571425F45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9AB77-17CC-4680-A5ED-B51AF7420FCC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3769-DB9F-4F69-A084-1571425F45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9AB77-17CC-4680-A5ED-B51AF7420FCC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3769-DB9F-4F69-A084-1571425F45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9AB77-17CC-4680-A5ED-B51AF7420FCC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3769-DB9F-4F69-A084-1571425F45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9AB77-17CC-4680-A5ED-B51AF7420FCC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3769-DB9F-4F69-A084-1571425F45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9AB77-17CC-4680-A5ED-B51AF7420FCC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3769-DB9F-4F69-A084-1571425F45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9AB77-17CC-4680-A5ED-B51AF7420FCC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3769-DB9F-4F69-A084-1571425F45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9AB77-17CC-4680-A5ED-B51AF7420FCC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C3769-DB9F-4F69-A084-1571425F451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titled (1).png"/>
          <p:cNvPicPr>
            <a:picLocks noChangeAspect="1"/>
          </p:cNvPicPr>
          <p:nvPr/>
        </p:nvPicPr>
        <p:blipFill>
          <a:blip r:embed="rId2"/>
          <a:srcRect l="17721" t="6250" r="17302" b="49999"/>
          <a:stretch>
            <a:fillRect/>
          </a:stretch>
        </p:blipFill>
        <p:spPr>
          <a:xfrm>
            <a:off x="1357290" y="1175456"/>
            <a:ext cx="2714644" cy="5182502"/>
          </a:xfrm>
          <a:prstGeom prst="rect">
            <a:avLst/>
          </a:prstGeom>
        </p:spPr>
      </p:pic>
      <p:pic>
        <p:nvPicPr>
          <p:cNvPr id="14" name="Picture 13" descr="Untitled (1).png"/>
          <p:cNvPicPr>
            <a:picLocks noChangeAspect="1"/>
          </p:cNvPicPr>
          <p:nvPr/>
        </p:nvPicPr>
        <p:blipFill>
          <a:blip r:embed="rId2"/>
          <a:srcRect l="17721" t="48959" r="17302" b="6249"/>
          <a:stretch>
            <a:fillRect/>
          </a:stretch>
        </p:blipFill>
        <p:spPr>
          <a:xfrm>
            <a:off x="5000628" y="1000108"/>
            <a:ext cx="2714644" cy="5305895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428596" y="71438"/>
            <a:ext cx="8431200" cy="1000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en-US" sz="3200" b="1" dirty="0" smtClean="0"/>
              <a:t>Sequential </a:t>
            </a:r>
            <a:r>
              <a:rPr lang="en-US" sz="3200" b="1" dirty="0" smtClean="0"/>
              <a:t>Process Flow for Cart </a:t>
            </a:r>
            <a:r>
              <a:rPr lang="en-US" sz="3200" b="1" dirty="0" smtClean="0"/>
              <a:t>Pendulum Control</a:t>
            </a:r>
            <a:endParaRPr lang="en-US" sz="3200" b="1" dirty="0" smtClean="0"/>
          </a:p>
        </p:txBody>
      </p:sp>
      <p:cxnSp>
        <p:nvCxnSpPr>
          <p:cNvPr id="85" name="Elbow Connector 84"/>
          <p:cNvCxnSpPr/>
          <p:nvPr/>
        </p:nvCxnSpPr>
        <p:spPr>
          <a:xfrm rot="10800000" flipV="1">
            <a:off x="2700350" y="993957"/>
            <a:ext cx="3657600" cy="53640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1438"/>
            <a:ext cx="8229600" cy="78579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/>
              <a:t>Physical Scaling</a:t>
            </a:r>
            <a:endParaRPr lang="en-US" sz="3200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71473" y="1643050"/>
          <a:ext cx="8115328" cy="2948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328"/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P_0  =  1;                 </a:t>
                      </a:r>
                      <a:r>
                        <a:rPr lang="en-US" sz="1800" b="0" i="0" baseline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% Rated cart position (m)</a:t>
                      </a:r>
                      <a:endParaRPr lang="en-US" sz="1800" b="0" i="0" noProof="1" smtClean="0">
                        <a:latin typeface="+mj-lt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P_0k  =  57147;       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% Sensor reading for rated cart position</a:t>
                      </a:r>
                      <a:endParaRPr lang="en-US" sz="1800" b="0" i="0" noProof="1" smtClean="0">
                        <a:latin typeface="+mj-lt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F_0  =  20;                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% Rated force (N)</a:t>
                      </a:r>
                      <a:endParaRPr lang="en-US" sz="1800" b="0" i="0" noProof="1" smtClean="0">
                        <a:latin typeface="+mj-lt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F_0k  =  200;           </a:t>
                      </a:r>
                      <a:r>
                        <a:rPr lang="en-US" sz="1800" b="0" i="0" baseline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% DAC 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increments 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for rated force</a:t>
                      </a:r>
                      <a:endParaRPr lang="en-US" sz="1800" b="0" i="0" noProof="1" smtClean="0">
                        <a:latin typeface="+mj-lt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V_0  =  1;                 </a:t>
                      </a:r>
                      <a:r>
                        <a:rPr lang="en-US" sz="1800" b="0" i="0" baseline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  <a:r>
                        <a:rPr lang="en-US" sz="1800" b="0" i="0" baseline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%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 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Rated cart speed (m/s)</a:t>
                      </a:r>
                      <a:endParaRPr lang="en-US" sz="1800" b="0" i="0" noProof="1" smtClean="0">
                        <a:latin typeface="+mj-lt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V_0k  =  571.47;</a:t>
                      </a:r>
                      <a:r>
                        <a:rPr lang="en-US" sz="1800" b="0" i="0" noProof="1" smtClean="0">
                          <a:latin typeface="+mj-lt"/>
                        </a:rPr>
                        <a:t>      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% Sensor reading for rated cart speed		</a:t>
                      </a:r>
                      <a:endParaRPr lang="en-US" sz="1800" b="0" i="0" noProof="1" smtClean="0">
                        <a:latin typeface="+mj-lt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A_0  =  2*pi;            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% Rated pendulum angle (rad)</a:t>
                      </a:r>
                      <a:endParaRPr lang="en-US" sz="1800" b="0" i="0" noProof="1" smtClean="0">
                        <a:latin typeface="+mj-lt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A_0k  =  4095;         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% Sensor reading for rated pendulum angle</a:t>
                      </a:r>
                      <a:endParaRPr lang="en-US" sz="1800" b="0" i="0" noProof="1" smtClean="0">
                        <a:latin typeface="+mj-lt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Av_0  =  2*pi;          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% Rated pendulum angular velocity (rad/s)</a:t>
                      </a:r>
                      <a:endParaRPr lang="en-US" sz="1800" b="0" i="0" noProof="1" smtClean="0">
                        <a:latin typeface="+mj-lt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Av_0k  =  40.95;</a:t>
                      </a:r>
                      <a:r>
                        <a:rPr lang="en-US" sz="1800" b="0" i="0" noProof="1" smtClean="0">
                          <a:latin typeface="+mj-lt"/>
                        </a:rPr>
                        <a:t>;     </a:t>
                      </a:r>
                      <a:r>
                        <a:rPr lang="en-US" sz="1800" b="0" i="0" noProof="1" smtClean="0">
                          <a:solidFill>
                            <a:srgbClr val="008013"/>
                          </a:solidFill>
                          <a:latin typeface="+mj-lt"/>
                        </a:rPr>
                        <a:t>% Sensor reading for rated pendulum angular velocity</a:t>
                      </a:r>
                      <a:endParaRPr lang="en-US" sz="1800" b="0" i="0" noProof="1" smtClean="0">
                        <a:latin typeface="+mj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8596" y="928670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MATLAB </a:t>
            </a:r>
            <a:r>
              <a:rPr lang="en-US" sz="2400" b="1" dirty="0"/>
              <a:t>s</a:t>
            </a:r>
            <a:r>
              <a:rPr lang="en-US" sz="2400" b="1" dirty="0" smtClean="0"/>
              <a:t>cript for required variables for scaling </a:t>
            </a:r>
            <a:endParaRPr 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71472" y="1643050"/>
          <a:ext cx="8115328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328"/>
              </a:tblGrid>
              <a:tr h="20002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Gp_s </a:t>
                      </a:r>
                      <a:r>
                        <a:rPr lang="en-US" sz="1800" b="0" i="0" baseline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=  (P_0/P_0k)*P_D*(F_0k/F_0);                      </a:t>
                      </a:r>
                      <a:r>
                        <a:rPr lang="en-US" sz="1800" b="0" i="0" dirty="0" smtClean="0">
                          <a:solidFill>
                            <a:srgbClr val="008013"/>
                          </a:solidFill>
                          <a:latin typeface="+mj-lt"/>
                        </a:rPr>
                        <a:t>% Scaled proportional gain</a:t>
                      </a:r>
                      <a:endParaRPr lang="en-US" sz="1800" b="0" i="0" noProof="1" smtClean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Gi_s </a:t>
                      </a:r>
                      <a:r>
                        <a:rPr lang="en-US" sz="1800" b="0" i="0" baseline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=  (P_0/P_0k)*pi_d*Ts*(F_0k/F_0);                 </a:t>
                      </a:r>
                      <a:r>
                        <a:rPr lang="en-US" sz="1800" b="0" i="0" dirty="0" smtClean="0">
                          <a:solidFill>
                            <a:srgbClr val="008013"/>
                          </a:solidFill>
                          <a:latin typeface="+mj-lt"/>
                        </a:rPr>
                        <a:t>% Scaled integral gain</a:t>
                      </a:r>
                      <a:endParaRPr lang="en-US" sz="1800" b="0" i="0" noProof="1" smtClean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ktd_s(1)  =  (Av_0/Av_0k)*kt_d(1)*(F_0k/F_0); 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ktd_s(2)  =  (A_0/A_0k)*kt_d(2)*(F_0k/F_0); 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ktd_s(3)  =  (V_0/V_0k)*kt_d(3)*(F_0k/F_0); 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ktd_s(4)  =  (P_0/P_0k)*kt_d(4)*(F_0k/F_0); 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lang="en-US" sz="1800" b="0" i="0" noProof="1" smtClean="0">
                          <a:solidFill>
                            <a:schemeClr val="tx1"/>
                          </a:solidFill>
                          <a:latin typeface="+mj-lt"/>
                        </a:rPr>
                        <a:t>ktd_s  =  [ktd_s(1) ktd_s(2) ktd_s(3) ktd_s(4)];        </a:t>
                      </a:r>
                      <a:r>
                        <a:rPr lang="en-US" sz="1800" b="0" i="0" dirty="0" smtClean="0">
                          <a:solidFill>
                            <a:srgbClr val="008013"/>
                          </a:solidFill>
                          <a:latin typeface="+mj-lt"/>
                        </a:rPr>
                        <a:t>% Scaled state feedback vector</a:t>
                      </a:r>
                      <a:r>
                        <a:rPr lang="en-US" sz="1800" b="0" i="0" baseline="0" dirty="0" smtClean="0">
                          <a:solidFill>
                            <a:srgbClr val="008013"/>
                          </a:solidFill>
                          <a:latin typeface="+mj-lt"/>
                        </a:rPr>
                        <a:t> </a:t>
                      </a:r>
                      <a:r>
                        <a:rPr lang="en-US" sz="1800" b="0" i="0" dirty="0" smtClean="0">
                          <a:solidFill>
                            <a:srgbClr val="008013"/>
                          </a:solidFill>
                          <a:latin typeface="+mj-lt"/>
                        </a:rPr>
                        <a:t>gain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8596" y="895633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MATLAB </a:t>
            </a:r>
            <a:r>
              <a:rPr lang="en-US" sz="2400" b="1" dirty="0"/>
              <a:t>s</a:t>
            </a:r>
            <a:r>
              <a:rPr lang="en-US" sz="2400" b="1" dirty="0" smtClean="0"/>
              <a:t>cript for controller coefficient </a:t>
            </a:r>
            <a:endParaRPr lang="en-US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/>
              <a:t>Legacy Code MATLAB Model</a:t>
            </a:r>
            <a:endParaRPr lang="en-US" sz="3200" b="1" dirty="0"/>
          </a:p>
        </p:txBody>
      </p:sp>
      <p:pic>
        <p:nvPicPr>
          <p:cNvPr id="8193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520" t="9778" r="520" b="10106"/>
          <a:stretch>
            <a:fillRect/>
          </a:stretch>
        </p:blipFill>
        <p:spPr bwMode="auto">
          <a:xfrm>
            <a:off x="285720" y="1714488"/>
            <a:ext cx="8572560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857364"/>
            <a:ext cx="4000528" cy="2787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28596" y="895633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Simulation Comparison</a:t>
            </a:r>
            <a:endParaRPr lang="en-US" sz="2400" b="1" dirty="0"/>
          </a:p>
        </p:txBody>
      </p:sp>
      <p:pic>
        <p:nvPicPr>
          <p:cNvPr id="7" name="Picture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90" y="1857364"/>
            <a:ext cx="3929090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8596" y="71438"/>
            <a:ext cx="8229600" cy="78579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/>
              <a:t>State Diagram for Referencing Phase</a:t>
            </a:r>
            <a:endParaRPr lang="en-US" sz="32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18055" r="18442"/>
          <a:stretch>
            <a:fillRect/>
          </a:stretch>
        </p:blipFill>
        <p:spPr bwMode="auto">
          <a:xfrm>
            <a:off x="571471" y="1062054"/>
            <a:ext cx="7617223" cy="49387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71438"/>
            <a:ext cx="8229600" cy="78579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/>
              <a:t>State Diagram for Controlling Phase</a:t>
            </a:r>
            <a:endParaRPr lang="en-US" sz="32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 l="5174" r="5797"/>
          <a:stretch>
            <a:fillRect/>
          </a:stretch>
        </p:blipFill>
        <p:spPr bwMode="auto">
          <a:xfrm>
            <a:off x="571472" y="1066801"/>
            <a:ext cx="8215370" cy="379934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1309</TotalTime>
  <Words>188</Words>
  <Application>Microsoft Office PowerPoint</Application>
  <PresentationFormat>On-screen Show (4:3)</PresentationFormat>
  <Paragraphs>26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Physical Scaling</vt:lpstr>
      <vt:lpstr>Slide 3</vt:lpstr>
      <vt:lpstr>Legacy Code MATLAB Model</vt:lpstr>
      <vt:lpstr>Slide 5</vt:lpstr>
      <vt:lpstr>State Diagram for Referencing Phase</vt:lpstr>
      <vt:lpstr>State Diagram for Controlling Phase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Fixed Point Controller</dc:title>
  <dc:creator>DELL</dc:creator>
  <cp:lastModifiedBy>DELL</cp:lastModifiedBy>
  <cp:revision>137</cp:revision>
  <dcterms:created xsi:type="dcterms:W3CDTF">2024-03-07T13:09:58Z</dcterms:created>
  <dcterms:modified xsi:type="dcterms:W3CDTF">2024-03-11T20:20:52Z</dcterms:modified>
</cp:coreProperties>
</file>